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31209849083025"/>
          <c:y val="0.32368542766650038"/>
          <c:w val="0.82959448461653706"/>
          <c:h val="0.59179803938924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21.62</c:v>
                </c:pt>
                <c:pt idx="1">
                  <c:v>24.9</c:v>
                </c:pt>
                <c:pt idx="2">
                  <c:v>28.69</c:v>
                </c:pt>
                <c:pt idx="3">
                  <c:v>33.049999999999997</c:v>
                </c:pt>
                <c:pt idx="4">
                  <c:v>38.07</c:v>
                </c:pt>
                <c:pt idx="5">
                  <c:v>43.86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7-4DE3-AE59-2D8BC35E27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81C7-4DE3-AE59-2D8BC35E27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81C7-4DE3-AE59-2D8BC35E27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687961855"/>
        <c:axId val="687962335"/>
      </c:barChart>
      <c:catAx>
        <c:axId val="6879618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7962335"/>
        <c:crosses val="autoZero"/>
        <c:auto val="1"/>
        <c:lblAlgn val="ctr"/>
        <c:lblOffset val="100"/>
        <c:noMultiLvlLbl val="0"/>
      </c:catAx>
      <c:valAx>
        <c:axId val="6879623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87961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B9A4B-811C-4C62-B3B6-4F1CE41341E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FEEA9-DF60-48E4-A487-14D0FF1CB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26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3B00FA9-B2C1-4F63-BA89-83753E7A2F26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22234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9F8-C147-4113-BA3E-9026E8B14941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96870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B7E246-EBD0-4649-85D0-56F58C12840E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00855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6331C-0247-4763-A4D4-66E0F99E3CEC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8337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E657D-0A27-4BE6-A012-B8FA7F9C566A}" type="datetime1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96632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AE8A-E409-4D97-86D7-0D7954967EC6}" type="datetime1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428793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62CB-F6F2-4E43-9755-D0F915F7313B}" type="datetime1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385459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127F-5DD4-4084-BF18-00D6563A51EF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29361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0D24-863F-4D05-92C9-4759416546AE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356811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B47E-7FEE-44F7-97A1-FA7E24BBEF86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7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6C40550-DB33-4865-8AB4-7BF43D49C766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593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B58433-7D7E-422A-B1FC-16FE24E26F29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9033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F5524A2-9FE5-4A4B-A1C1-EC34E67F01A9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134233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37C5-6565-49ED-A31E-6F4F94337BBE}" type="datetime1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78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54319-1AE4-4713-8AD3-6A7636EE77AC}" type="datetime1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152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0CBC-78ED-483F-8E5C-4C0C43576AA4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892835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B9E9FB-1D8B-4573-814B-8FF822DBBBC2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en-IN"/>
              <a:t>submitted By: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92301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A83FB-2BAB-4ACA-8A5A-8188F3FFF0AF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submitted By: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1F0F6-1B88-42DA-A72E-C81841419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2623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ransition spd="slow">
    <p:wipe/>
  </p:transition>
  <p:hf sldNum="0"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C44283-D1F0-2947-9ACC-36AE8F6AD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5600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5600" dirty="0"/>
              <a:t>EMERGEING PATTRENS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5600" dirty="0"/>
              <a:t>FUTURE OUTLOOK</a:t>
            </a:r>
          </a:p>
          <a:p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84EA62-2BEA-E82C-647E-28E9FCFC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19303" y="6135808"/>
            <a:ext cx="2880852" cy="60089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CCBB76-027D-FF8E-8A4D-734A47D22EF8}"/>
              </a:ext>
            </a:extLst>
          </p:cNvPr>
          <p:cNvSpPr/>
          <p:nvPr/>
        </p:nvSpPr>
        <p:spPr>
          <a:xfrm>
            <a:off x="438540" y="1600201"/>
            <a:ext cx="1075271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Online shopping trends</a:t>
            </a:r>
            <a:endParaRPr lang="en-US" sz="6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7393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6A1E-FB76-A852-490F-F9D94106F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4" y="764373"/>
            <a:ext cx="6882580" cy="1293028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Bodoni MT Black" panose="02070A03080606020203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7614-F54F-7807-56EF-19E38E3E8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704" y="2035277"/>
            <a:ext cx="6882580" cy="4132257"/>
          </a:xfrm>
        </p:spPr>
        <p:txBody>
          <a:bodyPr/>
          <a:lstStyle/>
          <a:p>
            <a:r>
              <a:rPr lang="en-US" dirty="0"/>
              <a:t>Online shopping, also known as </a:t>
            </a:r>
            <a:r>
              <a:rPr lang="en-US" b="1" dirty="0"/>
              <a:t>e-commerce</a:t>
            </a:r>
            <a:r>
              <a:rPr lang="en-US" dirty="0"/>
              <a:t>, has transformed the way consumers purchase goods and services.</a:t>
            </a:r>
          </a:p>
          <a:p>
            <a:r>
              <a:rPr lang="en-US" dirty="0"/>
              <a:t> With the proliferation of </a:t>
            </a:r>
            <a:r>
              <a:rPr lang="en-US" b="1" dirty="0"/>
              <a:t>internet access, smartphones, and digital payment systems</a:t>
            </a:r>
            <a:r>
              <a:rPr lang="en-US" dirty="0"/>
              <a:t>, buying products online has become increasingly convenient, fast, and accessible to a growing global audience.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12AB3-8D10-44EE-CD41-15D28577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pic>
        <p:nvPicPr>
          <p:cNvPr id="5" name="Picture 4" descr="A person looking at a virtual shop&#10;&#10;AI-generated content may be incorrect.">
            <a:extLst>
              <a:ext uri="{FF2B5EF4-FFF2-40B4-BE49-F238E27FC236}">
                <a16:creationId xmlns:a16="http://schemas.microsoft.com/office/drawing/2014/main" id="{DDE5532A-5695-C21B-D120-1D23DDB82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91" y="1905000"/>
            <a:ext cx="3589644" cy="2237208"/>
          </a:xfrm>
          <a:prstGeom prst="rect">
            <a:avLst/>
          </a:prstGeom>
        </p:spPr>
      </p:pic>
      <p:pic>
        <p:nvPicPr>
          <p:cNvPr id="8" name="Picture 7" descr="A shopping cart on a keyboard&#10;&#10;AI-generated content may be incorrect.">
            <a:extLst>
              <a:ext uri="{FF2B5EF4-FFF2-40B4-BE49-F238E27FC236}">
                <a16:creationId xmlns:a16="http://schemas.microsoft.com/office/drawing/2014/main" id="{A0DE0F7C-0D1C-51B2-42FB-01AAE7CEF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91" y="4545518"/>
            <a:ext cx="3716593" cy="193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91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BB0A-BFE3-0135-7EDE-49CCDA06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18" y="-250826"/>
            <a:ext cx="9508664" cy="1619865"/>
          </a:xfrm>
        </p:spPr>
        <p:txBody>
          <a:bodyPr/>
          <a:lstStyle/>
          <a:p>
            <a:r>
              <a:rPr lang="en-IN" b="1" dirty="0">
                <a:latin typeface="Bodoni MT Black" panose="02070A03080606020203" pitchFamily="18" charset="0"/>
              </a:rPr>
              <a:t>Market Trends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60CA337-E0FC-6ED3-0244-12B83BA14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722" y="976979"/>
            <a:ext cx="8864082" cy="3613682"/>
          </a:xfrm>
        </p:spPr>
        <p:txBody>
          <a:bodyPr>
            <a:normAutofit/>
          </a:bodyPr>
          <a:lstStyle/>
          <a:p>
            <a:r>
              <a:rPr lang="en-US" dirty="0"/>
              <a:t>The worldwide e‑commerce market is projected to reach around </a:t>
            </a:r>
            <a:r>
              <a:rPr lang="en-US" b="1" dirty="0"/>
              <a:t>US $6.86 trillion</a:t>
            </a:r>
            <a:r>
              <a:rPr lang="en-US" dirty="0"/>
              <a:t> in 2025. </a:t>
            </a:r>
          </a:p>
          <a:p>
            <a:r>
              <a:rPr lang="en-US" dirty="0"/>
              <a:t>E‑commerce’s share of total retail is steadily increasing: estimated at ~20–21% of all retail purchases in 2025, rising toward ~22–23% by around 2028</a:t>
            </a:r>
          </a:p>
          <a:p>
            <a:r>
              <a:rPr lang="en-US" dirty="0"/>
              <a:t>India’s e‑commerce market size is estimated at around </a:t>
            </a:r>
            <a:r>
              <a:rPr lang="en-US" b="1" dirty="0"/>
              <a:t>US $151 billion (≈ Rs 13,04,703 crore)</a:t>
            </a:r>
            <a:r>
              <a:rPr lang="en-US" dirty="0"/>
              <a:t> in 2025</a:t>
            </a:r>
          </a:p>
          <a:p>
            <a:r>
              <a:rPr lang="en-US" dirty="0"/>
              <a:t>Chart represent future trends: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35D304-B245-88F6-243A-34697F3B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2A1155D6-102B-5B0A-5DEF-F7EF00F0E1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2226329"/>
              </p:ext>
            </p:extLst>
          </p:nvPr>
        </p:nvGraphicFramePr>
        <p:xfrm>
          <a:off x="1632155" y="3254478"/>
          <a:ext cx="10559846" cy="3411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028778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8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FF32-3134-691B-BC15-8CAC25BF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849" y="121298"/>
            <a:ext cx="9843763" cy="125963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Berlin Sans FB Demi" panose="020E0802020502020306" pitchFamily="34" charset="0"/>
              </a:rPr>
              <a:t>Logistics &amp; Fulfilment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0FE57-7EEE-064C-D418-2DCDA876F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426" y="1152907"/>
            <a:ext cx="9302186" cy="4758315"/>
          </a:xfrm>
        </p:spPr>
        <p:txBody>
          <a:bodyPr/>
          <a:lstStyle/>
          <a:p>
            <a:r>
              <a:rPr lang="en-US" dirty="0"/>
              <a:t>As online shopping volumes increase, the logistics and fulfilment side is becoming a critical differentiator for retailers and e‑commerce brands</a:t>
            </a:r>
          </a:p>
          <a:p>
            <a:r>
              <a:rPr lang="en-US" dirty="0"/>
              <a:t>Key segments of logistics for e‑commerce: warehousing &amp; inventory management → order processing &amp; picking/packing → last‑mile delivery → reverse logistics/returns</a:t>
            </a:r>
          </a:p>
          <a:p>
            <a:r>
              <a:rPr lang="en-US" dirty="0"/>
              <a:t>Consumer expectations of rapid delivery (next‑day, same‑day, even hours) are driving logistics redesign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74AE-94B0-29D6-F585-E8CD58B7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pic>
        <p:nvPicPr>
          <p:cNvPr id="7" name="Picture 6" descr="A red sign with a person on a motorcycle&#10;&#10;AI-generated content may be incorrect.">
            <a:extLst>
              <a:ext uri="{FF2B5EF4-FFF2-40B4-BE49-F238E27FC236}">
                <a16:creationId xmlns:a16="http://schemas.microsoft.com/office/drawing/2014/main" id="{14577F63-2B49-D996-9690-38DF39368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654" y="4345545"/>
            <a:ext cx="2641343" cy="1943100"/>
          </a:xfrm>
          <a:prstGeom prst="rect">
            <a:avLst/>
          </a:prstGeom>
        </p:spPr>
      </p:pic>
      <p:pic>
        <p:nvPicPr>
          <p:cNvPr id="9" name="Picture 8" descr="A person on a motorcycle&#10;&#10;AI-generated content may be incorrect.">
            <a:extLst>
              <a:ext uri="{FF2B5EF4-FFF2-40B4-BE49-F238E27FC236}">
                <a16:creationId xmlns:a16="http://schemas.microsoft.com/office/drawing/2014/main" id="{9B3A7DB0-9105-8509-9BD7-E53724D1E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426" y="4431955"/>
            <a:ext cx="3389803" cy="189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474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63BF-1BC8-377A-C4A2-2E810863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323" y="258096"/>
            <a:ext cx="9537290" cy="1646903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Bodoni MT Black" panose="02070A03080606020203" pitchFamily="18" charset="0"/>
              </a:rPr>
              <a:t>Benefits of online shopping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0B5F7-9164-4961-2D00-190BBDB3D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897" y="1081547"/>
            <a:ext cx="9537291" cy="424016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Global Access:</a:t>
            </a:r>
            <a:r>
              <a:rPr lang="en-US" dirty="0"/>
              <a:t> Consumers can buy products from anywhere in the world. Shoppers have access to multiple brands and models in one place.</a:t>
            </a:r>
          </a:p>
          <a:p>
            <a:r>
              <a:rPr lang="en-US" b="1" dirty="0"/>
              <a:t>24/7 Availability:</a:t>
            </a:r>
            <a:r>
              <a:rPr lang="en-US" dirty="0"/>
              <a:t> Online stores are open all day, every day, allowing consumers to shop anytime. Apps and mobile-friendly websites make shopping from anywhere easier.</a:t>
            </a:r>
          </a:p>
          <a:p>
            <a:r>
              <a:rPr lang="en-US" b="1" dirty="0"/>
              <a:t>Informed Decisions:</a:t>
            </a:r>
            <a:r>
              <a:rPr lang="en-US" dirty="0"/>
              <a:t> User reviews and ratings help buyers assess product quality.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A5561-2F7E-4857-2E24-24071BC1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DAD32-50C6-2576-D1DF-17DF8684B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56" y="4278286"/>
            <a:ext cx="5665387" cy="232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44714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5A90-921A-1F65-675A-808830E2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585" y="177282"/>
            <a:ext cx="7445828" cy="1294081"/>
          </a:xfrm>
        </p:spPr>
        <p:txBody>
          <a:bodyPr>
            <a:noAutofit/>
          </a:bodyPr>
          <a:lstStyle/>
          <a:p>
            <a:r>
              <a:rPr lang="en-IN" sz="4000" dirty="0">
                <a:latin typeface="Bodoni MT Black" panose="02070A03080606020203" pitchFamily="18" charset="0"/>
              </a:rPr>
              <a:t>Challenges of online shopping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D2B20-4A13-6A62-0E34-B11A45231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18" y="1471363"/>
            <a:ext cx="7517062" cy="3915274"/>
          </a:xfrm>
        </p:spPr>
        <p:txBody>
          <a:bodyPr>
            <a:noAutofit/>
          </a:bodyPr>
          <a:lstStyle/>
          <a:p>
            <a:r>
              <a:rPr lang="en-US" sz="2000" b="1" dirty="0"/>
              <a:t>Product Quality Uncertainty:</a:t>
            </a:r>
            <a:r>
              <a:rPr lang="en-US" sz="2000" dirty="0"/>
              <a:t> Customers cannot touch, feel, or try products before purchase. Particularly relevant for clothing, shoes, and accessories.</a:t>
            </a:r>
          </a:p>
          <a:p>
            <a:r>
              <a:rPr lang="en-US" sz="2000" b="1" dirty="0"/>
              <a:t>Data Breaches:</a:t>
            </a:r>
            <a:r>
              <a:rPr lang="en-US" sz="2000" dirty="0"/>
              <a:t> Personal and financial information can be vulnerable to cyberattacks. Risk of fake e-commerce sites or scams tricking buyers.</a:t>
            </a:r>
          </a:p>
          <a:p>
            <a:r>
              <a:rPr lang="en-US" sz="2000" b="1" dirty="0"/>
              <a:t>Connectivity Issues:</a:t>
            </a:r>
            <a:r>
              <a:rPr lang="en-US" sz="2000" dirty="0"/>
              <a:t> Poor internet access can disrupt shopping experience. App crashes, website downtime, or payment failures can frustrate buyers</a:t>
            </a:r>
            <a:endParaRPr lang="en-IN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A2E8B-7D43-C496-51B0-E200D1FA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  <p:pic>
        <p:nvPicPr>
          <p:cNvPr id="6" name="Picture 5" descr="A person standing in front of a sign&#10;&#10;AI-generated content may be incorrect.">
            <a:extLst>
              <a:ext uri="{FF2B5EF4-FFF2-40B4-BE49-F238E27FC236}">
                <a16:creationId xmlns:a16="http://schemas.microsoft.com/office/drawing/2014/main" id="{B1FD9432-4866-3BA5-BEAB-E72C9F411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239" y="1381327"/>
            <a:ext cx="3255884" cy="2603319"/>
          </a:xfrm>
          <a:prstGeom prst="rect">
            <a:avLst/>
          </a:prstGeom>
        </p:spPr>
      </p:pic>
      <p:pic>
        <p:nvPicPr>
          <p:cNvPr id="8" name="Picture 7" descr="A web page with text and symbols&#10;&#10;AI-generated content may be incorrect.">
            <a:extLst>
              <a:ext uri="{FF2B5EF4-FFF2-40B4-BE49-F238E27FC236}">
                <a16:creationId xmlns:a16="http://schemas.microsoft.com/office/drawing/2014/main" id="{17FAF131-4F6E-50DB-3142-DE382F721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239" y="4175013"/>
            <a:ext cx="3255884" cy="223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1929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591A8-CF95-FC54-8071-554A58014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9" y="251928"/>
            <a:ext cx="7539134" cy="1380930"/>
          </a:xfrm>
        </p:spPr>
        <p:txBody>
          <a:bodyPr>
            <a:normAutofit/>
          </a:bodyPr>
          <a:lstStyle/>
          <a:p>
            <a:r>
              <a:rPr lang="en-IN" sz="6600" dirty="0">
                <a:latin typeface="Bodoni MT Black" panose="02070A03080606020203" pitchFamily="18" charset="0"/>
              </a:rPr>
              <a:t>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88395-CB21-B21C-9CC8-F44DEE6EE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06" y="1783702"/>
            <a:ext cx="11318000" cy="5879690"/>
          </a:xfrm>
        </p:spPr>
        <p:txBody>
          <a:bodyPr>
            <a:normAutofit/>
          </a:bodyPr>
          <a:lstStyle/>
          <a:p>
            <a:r>
              <a:rPr lang="en-US" sz="2400" b="1" dirty="0"/>
              <a:t>AI &amp; Machine Learning:</a:t>
            </a:r>
            <a:r>
              <a:rPr lang="en-US" sz="2400" dirty="0"/>
              <a:t> Use algorithms to recommend products based on browsing and purchase history. segment users by behavior to deliver highly relevant offers.</a:t>
            </a:r>
          </a:p>
          <a:p>
            <a:r>
              <a:rPr lang="en-US" sz="2400" b="1" dirty="0"/>
              <a:t>Micro-Fulfilment Centers:</a:t>
            </a:r>
            <a:r>
              <a:rPr lang="en-US" sz="2400" dirty="0"/>
              <a:t> Smaller warehouses close to key urban areas for faster delivery. Use local couriers, lockers, drones, or on-demand delivery services</a:t>
            </a:r>
          </a:p>
          <a:p>
            <a:r>
              <a:rPr lang="en-US" sz="2400" b="1" dirty="0"/>
              <a:t>Green Logistics:</a:t>
            </a:r>
            <a:r>
              <a:rPr lang="en-US" sz="2400" dirty="0"/>
              <a:t> Electric vehicles, optimized routes, and carbon-neutral delivery. Reduce plastic, use recyclable materials.</a:t>
            </a:r>
            <a:endParaRPr lang="en-IN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B6A9A-70EE-0CF1-25A7-35A27B4C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submitted By:</a:t>
            </a:r>
          </a:p>
        </p:txBody>
      </p:sp>
    </p:spTree>
    <p:extLst>
      <p:ext uri="{BB962C8B-B14F-4D97-AF65-F5344CB8AC3E}">
        <p14:creationId xmlns:p14="http://schemas.microsoft.com/office/powerpoint/2010/main" val="34811323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E13B8-50F9-18A7-1D12-4259A695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22" y="595432"/>
            <a:ext cx="6544913" cy="1326321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Bodoni MT Black" panose="02070A03080606020203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B223B-B7AA-03AD-0712-E35F9DC08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shopping has transformed the retail landscape, reshaping how consumers discover, evaluate, and purchase products.</a:t>
            </a:r>
          </a:p>
          <a:p>
            <a:r>
              <a:rPr lang="en-US" dirty="0"/>
              <a:t> Over the past decade, trends such as mobile commerce, social commerce, personalized recommendations, and fast delivery have become central to the e-commerce experience.</a:t>
            </a:r>
          </a:p>
          <a:p>
            <a:r>
              <a:rPr lang="en-US" dirty="0"/>
              <a:t> These trends are driven by consumer demand for </a:t>
            </a:r>
            <a:r>
              <a:rPr lang="en-US" b="1" dirty="0"/>
              <a:t>convenience, variety, competitive pricing, and seamless digital experiences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5F657-4DFF-11F4-16A2-46E8D2A3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4735" y="6139822"/>
            <a:ext cx="3244646" cy="614939"/>
          </a:xfrm>
        </p:spPr>
        <p:txBody>
          <a:bodyPr/>
          <a:lstStyle/>
          <a:p>
            <a:r>
              <a:rPr lang="en-IN" sz="3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doni MT Black" panose="02070A03080606020203" pitchFamily="18" charset="0"/>
              </a:rPr>
              <a:t>submitted By:</a:t>
            </a:r>
            <a:endParaRPr lang="en-IN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9606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CA78-2B26-A24A-F09D-0B9F4AF6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81" y="609600"/>
            <a:ext cx="11075436" cy="5638800"/>
          </a:xfrm>
        </p:spPr>
        <p:txBody>
          <a:bodyPr>
            <a:normAutofit/>
          </a:bodyPr>
          <a:lstStyle/>
          <a:p>
            <a:r>
              <a:rPr lang="en-IN" sz="5400" dirty="0"/>
              <a:t>Thank You! 💡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8BADB3F-FAD4-4993-9A8C-F74DFAAB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16008" y="5883275"/>
            <a:ext cx="2873222" cy="1068031"/>
          </a:xfrm>
        </p:spPr>
        <p:txBody>
          <a:bodyPr/>
          <a:lstStyle/>
          <a:p>
            <a:r>
              <a:rPr lang="en-IN" dirty="0"/>
              <a:t>submitted By:  Rishi(25bca10277)</a:t>
            </a:r>
          </a:p>
          <a:p>
            <a:r>
              <a:rPr lang="en-IN" dirty="0"/>
              <a:t>                           Ritik(25bca10276)</a:t>
            </a:r>
          </a:p>
          <a:p>
            <a:r>
              <a:rPr lang="en-IN" dirty="0"/>
              <a:t>                           Vishal(25bca10021)</a:t>
            </a:r>
          </a:p>
        </p:txBody>
      </p:sp>
    </p:spTree>
    <p:extLst>
      <p:ext uri="{BB962C8B-B14F-4D97-AF65-F5344CB8AC3E}">
        <p14:creationId xmlns:p14="http://schemas.microsoft.com/office/powerpoint/2010/main" val="409699290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180</TotalTime>
  <Words>546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Berlin Sans FB Demi</vt:lpstr>
      <vt:lpstr>Bodoni MT Black</vt:lpstr>
      <vt:lpstr>Century Gothic</vt:lpstr>
      <vt:lpstr>Vapor Trail</vt:lpstr>
      <vt:lpstr>PowerPoint Presentation</vt:lpstr>
      <vt:lpstr>Introduction</vt:lpstr>
      <vt:lpstr>Market Trends</vt:lpstr>
      <vt:lpstr>Logistics &amp; Fulfilment</vt:lpstr>
      <vt:lpstr>Benefits of online shopping</vt:lpstr>
      <vt:lpstr>Challenges of online shopping</vt:lpstr>
      <vt:lpstr>Strategies</vt:lpstr>
      <vt:lpstr>Conclusion</vt:lpstr>
      <vt:lpstr>Thank You! 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Khullar</dc:creator>
  <cp:lastModifiedBy>Rishi Khullar</cp:lastModifiedBy>
  <cp:revision>5</cp:revision>
  <dcterms:created xsi:type="dcterms:W3CDTF">2025-11-02T17:54:37Z</dcterms:created>
  <dcterms:modified xsi:type="dcterms:W3CDTF">2025-11-03T05:50:48Z</dcterms:modified>
</cp:coreProperties>
</file>